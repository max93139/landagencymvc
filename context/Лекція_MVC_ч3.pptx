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on left, text on right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2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learn.microsoft.com/en-en/aspnet/mvc/overview/getting-started/getting-started-with-ef-using-mvc/crealting-an-entity-framework-data-model-for-an-asp-net-mvc-application" TargetMode="External"/><Relationship Id="rId4" Type="http://schemas.openxmlformats.org/officeDocument/2006/relationships/hyperlink" Target="https://www.youtube.com/watch?v=bkKsjZAYz-w" TargetMode="External"/><Relationship Id="rId5" Type="http://schemas.openxmlformats.org/officeDocument/2006/relationships/hyperlink" Target="https://www.youtube.com/watch?v=bkKsjZAYz-w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ASP.NET MVC</a:t>
            </a:r>
            <a:endParaRPr/>
          </a:p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Частина 3.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Моделі та БД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Моделі </a:t>
            </a:r>
            <a:endParaRPr/>
          </a:p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Всі сутності в застосунку прийнято виділяти в окремі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моделі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Залежно від поставленого завдання і складності програми можна виділити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різну кількість моделей</a:t>
            </a:r>
            <a:endParaRPr/>
          </a:p>
          <a:p>
            <a:pPr indent="-215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Наприклад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у одному з попередніх завдань використовувалися дві моделі -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клас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для книги і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клас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для придбання книги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Моделі являють собою прості класи і розташовуються в проекті у папці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15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Моделі описують логіку даних 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68312" y="0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Наприклад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наведена нижче модель представляє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книгу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і її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придбання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pic>
        <p:nvPicPr>
          <p:cNvPr id="44" name="Google Shape;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7675" y="981075"/>
            <a:ext cx="2822575" cy="60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Призначення моделі </a:t>
            </a:r>
            <a:endParaRPr/>
          </a:p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Модель може мати конструктор, певні допоміжні методи. 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Призначення класу моделі - </a:t>
            </a:r>
            <a:r>
              <a:rPr b="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описувати дані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Маніпуляції з даними і бізнес-логіка – усе це стосується сфери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контролера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Дані моделей, як правило, зберігаються у БД. Для роботи з базою зручно користуватися фреймворком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Entity Framework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468312" y="1916112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підключення до бази даних через Entity Framework, нам потрібен посередник -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контекст даних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Контекст даних являє собою клас, похідний від класу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DbContext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Контекст даних містить одну або кілька властивостей типу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DbSet&lt;T&gt;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де T представляє тип об’єкта, що зберігається в базі даних.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0" i="1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Приклад</a:t>
            </a:r>
            <a:r>
              <a:rPr b="0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створення контексту даних для роботи з моделями </a:t>
            </a: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275" y="1484312"/>
            <a:ext cx="5903912" cy="5316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457200" y="274637"/>
            <a:ext cx="8229600" cy="633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Підключення до бази даних</a:t>
            </a:r>
            <a:endParaRPr/>
          </a:p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зберігання даних застосунку часто потрібна БД.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Ми можемо використовувати різні СУБД, але зазвичай в якості бази даних у зв’язці з ASP.NET MVC використовується база даних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 SQL Server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Ми можемо створити базу даних безпосередньо у проекті, або ж створити її на сервері MS SQL.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Натиснемо на папці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App_Data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правою кнопкою миші та в контекстному меню виберемо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-&gt; New Item ...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У вікні додавання нового елемента виберемо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 Server Database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і назвемо нову базу даних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Bookstore.mdf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68312" y="551656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Рис. 1</a:t>
            </a:r>
            <a:endParaRPr/>
          </a:p>
        </p:txBody>
      </p:sp>
      <p:pic>
        <p:nvPicPr>
          <p:cNvPr id="74" name="Google Shape;7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50" y="620712"/>
            <a:ext cx="8207375" cy="4618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>
            <a:off x="457200" y="274637"/>
            <a:ext cx="8218487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Щоб зв’язати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застосунок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контекст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даних і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БД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додаємо у файл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web.config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рядок підключення до цієї бази даних</a:t>
            </a:r>
            <a:endParaRPr/>
          </a:p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>
            <a:off x="468312" y="1916112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цього після секції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configSections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вставимо наступну секцію: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&lt;connectionStrings&gt;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&lt;add name = "BookContext" connectionString = "Data Source = (LocalDB)\MSSQLLocalDB; AttachDbFilename = '|DataDirectory|\Bookstore.mdf'; IntegratedSecurity = True"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providerName = "System.Data.SqlClient" /&gt;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&lt;/connectionStrings&gt;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LocalDB - це</a:t>
            </a:r>
            <a:endParaRPr/>
          </a:p>
        </p:txBody>
      </p:sp>
      <p:sp>
        <p:nvSpPr>
          <p:cNvPr id="86" name="Google Shape;86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полегшена версія движка баз даних SQL Server Express, спеціалізована для розробників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 такому випадку в якості джерела даних вказуємо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(LocalDB)\MSSQLLocalDB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Якщо ми використовуємо повноцінний </a:t>
            </a:r>
            <a:r>
              <a:rPr b="1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MS SQL Server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то у рядок підключення включається назва сервера:</a:t>
            </a:r>
            <a:endParaRPr/>
          </a:p>
        </p:txBody>
      </p:sp>
      <p:sp>
        <p:nvSpPr>
          <p:cNvPr id="92" name="Google Shape;92;p15"/>
          <p:cNvSpPr txBox="1"/>
          <p:nvPr>
            <p:ph idx="1" type="body"/>
          </p:nvPr>
        </p:nvSpPr>
        <p:spPr>
          <a:xfrm>
            <a:off x="468312" y="17732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&lt;connectionStrings&gt;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&lt;add name = "BookContext" connectionString = "DataSource =.\SQLEXPRESS; InitialCatalog = Bookstore; IntegratedSecurity = True"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providerName = "System.Data.SqlClient" /&gt;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&lt;/connectionStrings&gt;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468312" y="1484312"/>
            <a:ext cx="8280400" cy="2881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інших СУБД - </a:t>
            </a:r>
            <a:r>
              <a:rPr b="0" i="1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MySQL, MongoDB, Postgre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тощо рядок підключення </a:t>
            </a:r>
            <a:endParaRPr/>
          </a:p>
          <a:p>
            <a:pPr indent="-342900" lvl="0" marL="342900" marR="0" rtl="0" algn="ctr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може </a:t>
            </a:r>
            <a:endParaRPr/>
          </a:p>
          <a:p>
            <a:pPr indent="-342900" lvl="0" marL="342900" marR="0" rtl="0" algn="ctr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відрізнятися 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0" i="1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Приклади запису рядка підключення у </a:t>
            </a:r>
            <a:r>
              <a:rPr b="1" i="1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різних</a:t>
            </a:r>
            <a:r>
              <a:rPr b="0" i="1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проектах</a:t>
            </a:r>
            <a:endParaRPr/>
          </a:p>
        </p:txBody>
      </p:sp>
      <p:pic>
        <p:nvPicPr>
          <p:cNvPr id="103" name="Google Shape;103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50" y="1628775"/>
            <a:ext cx="9074150" cy="820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2708275"/>
            <a:ext cx="8964612" cy="6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387" y="3644900"/>
            <a:ext cx="515937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312" y="4797425"/>
            <a:ext cx="6172200" cy="85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112" name="Google Shape;112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12" y="1557337"/>
            <a:ext cx="5243512" cy="312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212" y="2133600"/>
            <a:ext cx="5891212" cy="427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5650" y="2997200"/>
            <a:ext cx="6073775" cy="69373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1547812" y="620712"/>
            <a:ext cx="53546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Приклади запису рядка підключення у проектах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0" i="1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Налаштування EF 6 для використання LocalDB</a:t>
            </a:r>
            <a:br>
              <a:rPr b="0" i="1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&lt;connectionStrings&gt;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&lt;add name="SchoolContext" </a:t>
            </a:r>
            <a:r>
              <a:rPr b="0" i="1" lang="en-US" sz="20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connectionString="Data Source=(LocalDb)\MSSQLLocalDB;Initial Catalog=ContosoUniversity1;Integrated Security=SSPI;" providerName="System.Data.SqlClient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"/&gt;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&lt;/connectionStrings&gt;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&lt;appSettings&gt;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&lt;add key="webpages:Version" value="3.0.0.0" /&gt;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&lt;add key="webpages:Enabled" value="false" /&gt;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&lt;add key="ClientValidationEnabled" value="true" /&gt;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&lt;add key="UnobtrusiveJavaScriptEnabled" value="true" /&gt;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&lt;/appSettings&gt;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Тепер створимо самі таблиці. Для цього перейдемо у вікно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Server Explorer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і розкриємо в ньому вузол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Connections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Далі ми побачимо вузол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BookContext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який представляє нашу БД, і також розкриємо його: </a:t>
            </a:r>
            <a:endParaRPr/>
          </a:p>
        </p:txBody>
      </p:sp>
      <p:pic>
        <p:nvPicPr>
          <p:cNvPr id="127" name="Google Shape;1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7312" y="1700212"/>
            <a:ext cx="3554412" cy="5157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Додаємо першу таблицю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цього натиснемо правою кнопкою миші на вузол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і в меню виберемо пункт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New Table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Після цього відкриється вікно дизайнера таблиці, в якому потрібно визначити назви і типи стовпців нової таблиці.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Щодо угод про найменуваннях таблиці при роботі з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Entity Framework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назви таблиць повинні відповідати імені моделі.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Наприклад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якщо модель називається </a:t>
            </a:r>
            <a:r>
              <a:rPr b="0" i="1" lang="en-US" sz="4000" u="none" cap="none" strike="noStrik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то таблиця буде називатися </a:t>
            </a:r>
            <a:r>
              <a:rPr b="0" i="1" lang="en-US" sz="4000" u="none" cap="none" strike="noStrik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Books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457200" y="274637"/>
            <a:ext cx="8362950" cy="706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Створимо структуру таблиці: </a:t>
            </a:r>
            <a:endParaRPr/>
          </a:p>
        </p:txBody>
      </p:sp>
      <p:pic>
        <p:nvPicPr>
          <p:cNvPr id="139" name="Google Shape;1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4075" y="1282700"/>
            <a:ext cx="5184775" cy="4545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Оскільки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планується заповнювати автоматично з додаванням кожного нового об’єкта, то встановимо для нього автоінкремент у вікні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Properties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pic>
        <p:nvPicPr>
          <p:cNvPr id="145" name="Google Shape;1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4437" y="1557337"/>
            <a:ext cx="3614737" cy="4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Останній крок - генерація бази даних. Для цього натиснемо на кнопку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pic>
        <p:nvPicPr>
          <p:cNvPr id="151" name="Google Shape;1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975" y="2420937"/>
            <a:ext cx="4824412" cy="147796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4"/>
          <p:cNvSpPr txBox="1"/>
          <p:nvPr/>
        </p:nvSpPr>
        <p:spPr>
          <a:xfrm>
            <a:off x="1763712" y="4581525"/>
            <a:ext cx="59166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Решта таблиць у БД можуть бути створені аналогічно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395287" y="404812"/>
            <a:ext cx="8229600" cy="1252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Далі зазвичай виконують заповнення таблиць даними: 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12" y="2060575"/>
            <a:ext cx="8208962" cy="3195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Тепер ми можемо отримати ці дані в контролері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і передати їх у подання (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Views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/>
          </a:p>
        </p:txBody>
      </p:sp>
      <p:pic>
        <p:nvPicPr>
          <p:cNvPr id="164" name="Google Shape;1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175" y="1700212"/>
            <a:ext cx="4968875" cy="37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395287" y="0"/>
            <a:ext cx="8229600" cy="490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Виведення даних у подання: </a:t>
            </a:r>
            <a:endParaRPr/>
          </a:p>
        </p:txBody>
      </p:sp>
      <p:pic>
        <p:nvPicPr>
          <p:cNvPr id="170" name="Google Shape;17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9612" y="620712"/>
            <a:ext cx="5314950" cy="6430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Закриття з’єднання</a:t>
            </a:r>
            <a:endParaRPr/>
          </a:p>
        </p:txBody>
      </p:sp>
      <p:pic>
        <p:nvPicPr>
          <p:cNvPr id="176" name="Google Shape;17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16112"/>
            <a:ext cx="8858250" cy="361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Шаблонні хелпери</a:t>
            </a: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Крім базових html-хелперів, генеруючих певні елементи розмітки html, фреймворк ASP.NET MVC також має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шаблонні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(або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шаблонізовані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хелпери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 відміну від розглянутих раніше, вони не генерують певний </a:t>
            </a:r>
            <a:r>
              <a:rPr b="1" i="0" lang="en-US" sz="40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елемент</a:t>
            </a:r>
            <a:r>
              <a:rPr b="0" i="0" lang="en-US" sz="40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40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Шаблонні хелпери орієнтуються на </a:t>
            </a:r>
            <a:r>
              <a:rPr b="1" i="0" lang="en-US" sz="40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властивість</a:t>
            </a:r>
            <a:r>
              <a:rPr b="1" i="0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40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моделі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і генерують той елемент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який найбільш підходить до даної властивості, виходячи з її метаданих.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У ASP.NET MVC є такі </a:t>
            </a: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шаблонні хелпери (поодинокі)</a:t>
            </a: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457200" y="1600200"/>
            <a:ext cx="8229600" cy="499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Створює елемент розмітки для відображення значення вказаної властивості моделі: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Html.Display("Name")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DisplayFor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Строго типізований аналог хелпера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Html.DisplayFor (m =&gt; m.Name)</a:t>
            </a:r>
            <a:endParaRPr/>
          </a:p>
          <a:p>
            <a:pPr indent="-215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Editor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Створює елемент розмітки для редагування зазначеної властивості моделі: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Html.Editor("Name")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EditorFor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Строго типізований аналог хелпера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Editor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Html.EditorFor (m =&gt; m.Name)</a:t>
            </a:r>
            <a:endParaRPr/>
          </a:p>
          <a:p>
            <a:pPr indent="-215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DisplayText -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Створює вираз для зазначеної властивості моделі у вигляді простого рядка: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Html.DisplayText("Name")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DisplayTextFor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Строго типізований аналог хелпера DisplayText: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Html.DisplayTextFor (m =&gt; m.Name)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Шаблони, які дозволяють створити всі поля (разом) для всіх властивостей моделі:</a:t>
            </a:r>
            <a:endParaRPr/>
          </a:p>
        </p:txBody>
      </p:sp>
      <p:sp>
        <p:nvSpPr>
          <p:cNvPr id="194" name="Google Shape;194;p31"/>
          <p:cNvSpPr txBox="1"/>
          <p:nvPr>
            <p:ph idx="1" type="body"/>
          </p:nvPr>
        </p:nvSpPr>
        <p:spPr>
          <a:xfrm>
            <a:off x="457200" y="2420937"/>
            <a:ext cx="8229600" cy="3705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DisplayForModel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Створює поля для читання для всіх властивостей моделі: 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Html.DisplayForModel()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EditorForModel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Створює поля для редагування для всіх властивостей моделі: 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Html.EditorForModel()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idx="4294967295"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Приклад: </a:t>
            </a:r>
            <a:endParaRPr/>
          </a:p>
        </p:txBody>
      </p:sp>
      <p:pic>
        <p:nvPicPr>
          <p:cNvPr id="200" name="Google Shape;20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5600" y="3933825"/>
            <a:ext cx="3505200" cy="270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/>
          <p:cNvSpPr txBox="1"/>
          <p:nvPr/>
        </p:nvSpPr>
        <p:spPr>
          <a:xfrm>
            <a:off x="250825" y="1212850"/>
            <a:ext cx="5113337" cy="39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 {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Layout = "~ / Views / Shared / _Layout.cshtml";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@model BookStore.Models.Book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&lt;h2&gt; Книга № @ Model.Id &lt;/h2&gt;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 Html.DisplayForModel()</a:t>
            </a:r>
            <a:endParaRPr/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Після звернення до цього ресурсу шляхом набору в адресному рядку браузера </a:t>
            </a: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Home/BookView/1, отримаємо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457200" y="274637"/>
            <a:ext cx="3898900" cy="1138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Редагування даних </a:t>
            </a:r>
            <a:endParaRPr/>
          </a:p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323850" y="1628775"/>
            <a:ext cx="4186237" cy="3773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Спочатку додаємо в контролер дію, який буде отримувати по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об’єкт моделі і виводити в подання властивості для редагування:</a:t>
            </a:r>
            <a:endParaRPr/>
          </a:p>
        </p:txBody>
      </p:sp>
      <p:pic>
        <p:nvPicPr>
          <p:cNvPr id="208" name="Google Shape;20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8537" y="333375"/>
            <a:ext cx="4335462" cy="630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title"/>
          </p:nvPr>
        </p:nvSpPr>
        <p:spPr>
          <a:xfrm>
            <a:off x="468312" y="0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Подання буде містити набір хелперів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EditorFor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для деяких полів моделі:</a:t>
            </a:r>
            <a:endParaRPr/>
          </a:p>
        </p:txBody>
      </p:sp>
      <p:pic>
        <p:nvPicPr>
          <p:cNvPr id="214" name="Google Shape;21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92150"/>
            <a:ext cx="4876800" cy="60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6275" y="4953000"/>
            <a:ext cx="4657725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type="title"/>
          </p:nvPr>
        </p:nvSpPr>
        <p:spPr>
          <a:xfrm>
            <a:off x="457200" y="274637"/>
            <a:ext cx="8229600" cy="9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Для збереження даних визначимо в контролері дію для обробки POST-запитів: </a:t>
            </a:r>
            <a:endParaRPr/>
          </a:p>
        </p:txBody>
      </p:sp>
      <p:pic>
        <p:nvPicPr>
          <p:cNvPr id="221" name="Google Shape;22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50" y="1773237"/>
            <a:ext cx="7200900" cy="4164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457200" y="274637"/>
            <a:ext cx="8229600" cy="490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Додавання даних </a:t>
            </a:r>
            <a:endParaRPr/>
          </a:p>
        </p:txBody>
      </p:sp>
      <p:pic>
        <p:nvPicPr>
          <p:cNvPr id="227" name="Google Shape;22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512" y="1341437"/>
            <a:ext cx="4400550" cy="5256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7"/>
          <p:cNvSpPr txBox="1"/>
          <p:nvPr>
            <p:ph type="title"/>
          </p:nvPr>
        </p:nvSpPr>
        <p:spPr>
          <a:xfrm>
            <a:off x="457200" y="274637"/>
            <a:ext cx="8229600" cy="346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Відповідне подання буде виглядати так:</a:t>
            </a:r>
            <a:endParaRPr/>
          </a:p>
        </p:txBody>
      </p:sp>
      <p:pic>
        <p:nvPicPr>
          <p:cNvPr id="233" name="Google Shape;23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975" y="731837"/>
            <a:ext cx="4562475" cy="6126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Вилучення даних (підхід №1)</a:t>
            </a:r>
            <a:endParaRPr/>
          </a:p>
        </p:txBody>
      </p:sp>
      <p:pic>
        <p:nvPicPr>
          <p:cNvPr id="239" name="Google Shape;23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175" y="1557337"/>
            <a:ext cx="4987925" cy="5040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Вилучення даних (підхід №2)</a:t>
            </a:r>
            <a:endParaRPr/>
          </a:p>
        </p:txBody>
      </p:sp>
      <p:pic>
        <p:nvPicPr>
          <p:cNvPr id="245" name="Google Shape;24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75" y="1844675"/>
            <a:ext cx="6337300" cy="40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idx="4294967295"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Переваги й недоліки підходу №2 </a:t>
            </a:r>
            <a:endParaRPr/>
          </a:p>
        </p:txBody>
      </p:sp>
      <p:sp>
        <p:nvSpPr>
          <p:cNvPr id="251" name="Google Shape;251;p40"/>
          <p:cNvSpPr txBox="1"/>
          <p:nvPr>
            <p:ph idx="4294967295" type="body"/>
          </p:nvPr>
        </p:nvSpPr>
        <p:spPr>
          <a:xfrm>
            <a:off x="395287" y="2852737"/>
            <a:ext cx="4032250" cy="129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Мінімізація кількості запитів до БД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0"/>
          <p:cNvSpPr txBox="1"/>
          <p:nvPr>
            <p:ph idx="4294967295" type="body"/>
          </p:nvPr>
        </p:nvSpPr>
        <p:spPr>
          <a:xfrm>
            <a:off x="4572000" y="2852737"/>
            <a:ext cx="4038600" cy="1036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Безпека даних (вразливість методу)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0"/>
          <p:cNvSpPr txBox="1"/>
          <p:nvPr/>
        </p:nvSpPr>
        <p:spPr>
          <a:xfrm>
            <a:off x="2484437" y="5084762"/>
            <a:ext cx="6508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&lt;img src = "http: // адреса_нашого_сайту/Home/Delete/1" /&gt;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 txBox="1"/>
          <p:nvPr>
            <p:ph type="title"/>
          </p:nvPr>
        </p:nvSpPr>
        <p:spPr>
          <a:xfrm>
            <a:off x="611187" y="476250"/>
            <a:ext cx="3467100" cy="19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Для уникнення вразливості метод вилучення перепишемо таким чином: </a:t>
            </a:r>
            <a:endParaRPr/>
          </a:p>
        </p:txBody>
      </p:sp>
      <p:pic>
        <p:nvPicPr>
          <p:cNvPr id="259" name="Google Shape;25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0562" y="0"/>
            <a:ext cx="3768725" cy="746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/>
          <p:nvPr>
            <p:ph type="title"/>
          </p:nvPr>
        </p:nvSpPr>
        <p:spPr>
          <a:xfrm>
            <a:off x="457200" y="274637"/>
            <a:ext cx="267493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Подання для вилучення даних</a:t>
            </a:r>
            <a:endParaRPr/>
          </a:p>
        </p:txBody>
      </p:sp>
      <p:pic>
        <p:nvPicPr>
          <p:cNvPr id="265" name="Google Shape;26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6600" y="260350"/>
            <a:ext cx="4606925" cy="65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Міграція БД </a:t>
            </a:r>
            <a:endParaRPr/>
          </a:p>
        </p:txBody>
      </p:sp>
      <p:sp>
        <p:nvSpPr>
          <p:cNvPr id="271" name="Google Shape;271;p4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Нерідко виникає ситуація, коли модель змінюється.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Наприклад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ми вирішили додати до неї нові властивості.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Але при цьому у нас вже є існуюча база даних, і в ній зберігаються певні дані.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Щоб 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оновити базу даних без втрати інформації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ASP.NET MVC пропонує такий механізм як 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міграції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4"/>
          <p:cNvSpPr txBox="1"/>
          <p:nvPr>
            <p:ph idx="4294967295" type="title"/>
          </p:nvPr>
        </p:nvSpPr>
        <p:spPr>
          <a:xfrm>
            <a:off x="457200" y="274637"/>
            <a:ext cx="8229600" cy="49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Приклад внесення змін у БД</a:t>
            </a:r>
            <a:endParaRPr/>
          </a:p>
        </p:txBody>
      </p:sp>
      <p:sp>
        <p:nvSpPr>
          <p:cNvPr id="277" name="Google Shape;277;p44"/>
          <p:cNvSpPr txBox="1"/>
          <p:nvPr>
            <p:ph idx="4294967295" type="body"/>
          </p:nvPr>
        </p:nvSpPr>
        <p:spPr>
          <a:xfrm>
            <a:off x="395287" y="836612"/>
            <a:ext cx="1522412" cy="604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Було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4"/>
          <p:cNvSpPr txBox="1"/>
          <p:nvPr>
            <p:ph idx="4294967295" type="body"/>
          </p:nvPr>
        </p:nvSpPr>
        <p:spPr>
          <a:xfrm>
            <a:off x="4427537" y="836612"/>
            <a:ext cx="33797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Потрібно змінити</a:t>
            </a:r>
            <a:endParaRPr/>
          </a:p>
        </p:txBody>
      </p:sp>
      <p:pic>
        <p:nvPicPr>
          <p:cNvPr id="279" name="Google Shape;27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1412875"/>
            <a:ext cx="3749675" cy="42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4662" y="1341437"/>
            <a:ext cx="2486025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6100" y="4600575"/>
            <a:ext cx="3590925" cy="22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/>
          <p:nvPr>
            <p:ph type="title"/>
          </p:nvPr>
        </p:nvSpPr>
        <p:spPr>
          <a:xfrm>
            <a:off x="457200" y="274637"/>
            <a:ext cx="8229600" cy="633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При спробі додати новий об’єкт у БД, ми будемо отримувати помилку: </a:t>
            </a:r>
            <a:endParaRPr/>
          </a:p>
        </p:txBody>
      </p:sp>
      <p:pic>
        <p:nvPicPr>
          <p:cNvPr id="287" name="Google Shape;28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4437" y="1196975"/>
            <a:ext cx="3851275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/>
          <p:nvPr>
            <p:ph type="title"/>
          </p:nvPr>
        </p:nvSpPr>
        <p:spPr>
          <a:xfrm>
            <a:off x="539750" y="188912"/>
            <a:ext cx="8229600" cy="1719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Так як контекст даних змінився, нам потрібно виконати міграцію від старої схеми БД до нової. 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Для цього знайдемо внизу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Visual Studio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вікно 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Package Manager Console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введемо команду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“enable-migrations”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і виконаємо її</a:t>
            </a:r>
            <a:endParaRPr/>
          </a:p>
        </p:txBody>
      </p:sp>
      <p:pic>
        <p:nvPicPr>
          <p:cNvPr id="293" name="Google Shape;29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50" y="2205037"/>
            <a:ext cx="7851775" cy="3417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7"/>
          <p:cNvSpPr txBox="1"/>
          <p:nvPr>
            <p:ph type="title"/>
          </p:nvPr>
        </p:nvSpPr>
        <p:spPr>
          <a:xfrm>
            <a:off x="250825" y="404812"/>
            <a:ext cx="4043362" cy="4594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Там же в консолі 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Package Manager Console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введемо команду:</a:t>
            </a:r>
            <a:b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PM&gt; Add-Migration “MigrateDB”</a:t>
            </a:r>
            <a:b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Після цього Visual Studio автоматично згенерує клас міграції:</a:t>
            </a:r>
            <a:endParaRPr/>
          </a:p>
        </p:txBody>
      </p:sp>
      <p:pic>
        <p:nvPicPr>
          <p:cNvPr id="299" name="Google Shape;29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6462" y="0"/>
            <a:ext cx="47720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Джерела інформації</a:t>
            </a:r>
            <a:endParaRPr/>
          </a:p>
        </p:txBody>
      </p:sp>
      <p:sp>
        <p:nvSpPr>
          <p:cNvPr id="305" name="Google Shape;305;p4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Електронний ресурс. Початок роботи з Entity Framework 6 Code First з допомогою MVC5.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Посібник. Джерело доступу:</a:t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https://learn.microsoft.com/en-en/aspnet/mvc/overview/getting-started/getting-started-with-ef-using-mvc/crealting-an-entity-framework-data-model-for-an-asp-net-mvc-application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Для перекладу документу українською мовою використовуємо Google Translate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20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Короткі відеозаписи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Електронний ресурс. Робота з БД у С#. Джерело доступу:</a:t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https://www.youtube.com/watch?v=bkKsjZAYz-w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Електронний ресурс. Конфігурація підключення до БД (C#). Джерело доступу:</a:t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https://www.youtube.com/watch?v=bkKsjZAYz-w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15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9"/>
          <p:cNvSpPr txBox="1"/>
          <p:nvPr>
            <p:ph type="title"/>
          </p:nvPr>
        </p:nvSpPr>
        <p:spPr>
          <a:xfrm>
            <a:off x="468312" y="2997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Дякую за увагу!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Оформление по умолчанию">
  <a:themeElements>
    <a:clrScheme name="Оформление по умолчанию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