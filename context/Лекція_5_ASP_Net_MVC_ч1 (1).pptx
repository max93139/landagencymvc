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learn.microsoft.com/" TargetMode="External"/><Relationship Id="rId4" Type="http://schemas.openxmlformats.org/officeDocument/2006/relationships/hyperlink" Target="https://learn.microsoft.com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ASP NET MVC</a:t>
            </a:r>
            <a:endParaRPr/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Лекція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ASP.NET MVC являє собою…</a:t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2916237" y="2852737"/>
            <a:ext cx="28082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фреймворк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Концепція патерну </a:t>
            </a: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MVC</a:t>
            </a: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передбачає поділ застосунку на компоненти: </a:t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539750" y="1989137"/>
            <a:ext cx="3311525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Сontroller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Порівняння різних патернів </a:t>
            </a:r>
            <a:endParaRPr/>
          </a:p>
        </p:txBody>
      </p:sp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628775"/>
            <a:ext cx="8207375" cy="373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Вікно проекту </a:t>
            </a:r>
            <a:endParaRPr/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989137"/>
            <a:ext cx="8713787" cy="44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Вікно вибору шаблону програми </a:t>
            </a:r>
            <a:endParaRPr/>
          </a:p>
        </p:txBody>
      </p:sp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773237"/>
            <a:ext cx="8064500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Типи аутентифікації </a:t>
            </a:r>
            <a:endParaRPr/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876425"/>
            <a:ext cx="6083300" cy="24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Запуск проекту </a:t>
            </a:r>
            <a:endParaRPr/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712" y="1700212"/>
            <a:ext cx="5429250" cy="410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Структура проекту MVC </a:t>
            </a:r>
            <a:endParaRPr/>
          </a:p>
        </p:txBody>
      </p:sp>
      <p:pic>
        <p:nvPicPr>
          <p:cNvPr id="76" name="Google Shape;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8537" y="1268412"/>
            <a:ext cx="4383087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Створення проекту без аутентифікації 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1773237"/>
            <a:ext cx="6073775" cy="42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 проекті за замовчуванням визначено стандартну папку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У ній будуть знаходитися наші моделі. Натиснемо на цій папці правою кнопкою миші, у меню виберемо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Add-&gt; Class... </a:t>
            </a:r>
            <a:b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Назвемо перший новий клас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добавимо у нього код: 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971550" y="1927225"/>
            <a:ext cx="4032250" cy="39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 BookStore.Models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public class Book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ID книги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int Id {get; set;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назва книги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string Name {get; set;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автор книги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string Author {get; set;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ціна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decimal Price {get; set; 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Подібним чином інший клас - модель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Purchase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яка буде відповідати за окреме придбання книги, що здійснюється: 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971550" y="1514475"/>
            <a:ext cx="4032250" cy="4760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System;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 BookStore.Models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public class Purchase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ID покупки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int PurchaseId {get; set;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ім'я і прізвище покупця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string Person {get; set;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адреса покупця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string Address {get; set;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ID книги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int BookId {get; set;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// дата купівлі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public DateTime Date {get; set;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Вікно управління пакетами </a:t>
            </a: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NuGet</a:t>
            </a: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87" y="1844675"/>
            <a:ext cx="6099175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Створення контексту даних 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57200" y="1600200"/>
            <a:ext cx="8229600" cy="82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Контекст даних використовує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 Framework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доступу до БД на основі деякої моделі. Отже, додаємо в папку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новий клас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BookContext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2492375"/>
            <a:ext cx="4176712" cy="386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Поширені підходи до реалізації проектів з БД: 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476375" y="2133600"/>
            <a:ext cx="6269037" cy="2289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CodeFirst (спочатку код)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DataBaseFirst (спочатку БД)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57200" y="274637"/>
            <a:ext cx="8229600" cy="41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Встановимо рядок підключення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95287" y="908050"/>
            <a:ext cx="8229600" cy="144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Відкриємо файл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web.config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знайдемо секцію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configSections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відразу після неї вставимо секцію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connectionStrings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887" y="2420937"/>
            <a:ext cx="684212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68312" y="260350"/>
            <a:ext cx="41036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Створення контролера і в’ю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539750" y="1196975"/>
            <a:ext cx="3816350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контролерів призначена папка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 замовчуванням при створенні проекту в неї додається контролер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Він практично не має ніякої функціональності, і спочатку його код виглядає наступним чином: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0575" y="0"/>
            <a:ext cx="4543425" cy="659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68312" y="692150"/>
            <a:ext cx="3251200" cy="481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Змінимо код на такий: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837" y="0"/>
            <a:ext cx="5219700" cy="666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Структура проекту 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1484312"/>
            <a:ext cx="3876675" cy="49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5076825" y="260350"/>
            <a:ext cx="3754437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Внесемо зміни у код в’ю:</a:t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5887"/>
            <a:ext cx="4953000" cy="52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1637" y="2781300"/>
            <a:ext cx="4932362" cy="376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Основи маршрутизації </a:t>
            </a: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395287" y="1492250"/>
            <a:ext cx="8374062" cy="421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Щоб звернутися до контролера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потрібно вказати в рядку запиту (адресному рядку) його ім’я -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Крім того, після імені контролера можна вказати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дію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(через слеш) або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контролера, до якого відправляється запит.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 замовчуванням при запуску проекту (зверненні до сайту) система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MVC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викликатиме дію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контролера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якщо ми не вкажемо інший маршрут за замовчуванням у параметрах маршрутизації.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Шлях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/Home/Buy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означає, що ми будемо звертатися до методу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контролера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Додавання в запит параметра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/Home/Buy/@b.Id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означає, що метод буде приймати параметр.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7200" y="274637"/>
            <a:ext cx="8229600" cy="41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 папку </a:t>
            </a:r>
            <a:r>
              <a:rPr b="1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додаємо новий клас </a:t>
            </a:r>
            <a:r>
              <a:rPr b="1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BookDbInitializer</a:t>
            </a:r>
            <a:r>
              <a:rPr b="0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із кодом: </a:t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836612"/>
            <a:ext cx="5964237" cy="597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95287" y="188912"/>
            <a:ext cx="3816350" cy="187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Всі початкові налаштування програми і конфігурації знаходяться в файлі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Global.asax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(для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!,  в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структура проекту відрізняється!)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0562" y="246062"/>
            <a:ext cx="4486275" cy="661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Результат роботи </a:t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773237"/>
            <a:ext cx="4105275" cy="34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7"/>
            <a:ext cx="8362950" cy="531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Для перевірки: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Відкрити папку проекту на жорсткому диску і перейти до папки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App_Data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можемо побачити щойно створену базу даних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Bookstore.mdf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яка і зберігає ці дані за замовчуванням.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457200" y="2746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Створимо метод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Додаємо в контролер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наступні методи: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1125537"/>
            <a:ext cx="4797425" cy="525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Додаємо подання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Buy.cshtml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Для цього натиснемо на метод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public ActionResult Buy (int id) 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правою кнопкою і оберемо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View ...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відкриється вікно: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341437"/>
            <a:ext cx="5638800" cy="415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Код в’ю замінимо: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484312"/>
            <a:ext cx="6421437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981075"/>
            <a:ext cx="7821612" cy="52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Після запуску застосунку:</a:t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557337"/>
            <a:ext cx="5761037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Відображення результату на екрані: </a:t>
            </a: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1844675"/>
            <a:ext cx="8135937" cy="183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Стилізація застосунку і майстер-сторінки</a:t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212" y="1557337"/>
            <a:ext cx="3579812" cy="482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Відкриємо файл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Site.css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і змінимо його вміст на наступний:</a:t>
            </a:r>
            <a:endParaRPr/>
          </a:p>
        </p:txBody>
      </p:sp>
      <p:pic>
        <p:nvPicPr>
          <p:cNvPr id="222" name="Google Shape;2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268412"/>
            <a:ext cx="4464050" cy="43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1500" y="836612"/>
            <a:ext cx="2809875" cy="576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Щоб використовувати стилі, ми можемо їх просто підключити в секції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як в будь-яку звичайну html-сторінку:</a:t>
            </a:r>
            <a:endParaRPr/>
          </a:p>
        </p:txBody>
      </p:sp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3025" y="2349500"/>
            <a:ext cx="9217025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Майстер-сторінка задає єдиний шаблон для інших в’ю </a:t>
            </a:r>
            <a:endParaRPr/>
          </a:p>
        </p:txBody>
      </p:sp>
      <p:sp>
        <p:nvSpPr>
          <p:cNvPr id="235" name="Google Shape;235;p38"/>
          <p:cNvSpPr txBox="1"/>
          <p:nvPr/>
        </p:nvSpPr>
        <p:spPr>
          <a:xfrm>
            <a:off x="539750" y="1628775"/>
            <a:ext cx="78771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 замовчуванням в проекті вже є майстер-сторінка, яка називається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_Layout.cshtml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Її можна знайти в папці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 -&gt; Shared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</p:txBody>
      </p:sp>
      <p:pic>
        <p:nvPicPr>
          <p:cNvPr id="236" name="Google Shape;2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237" y="2349500"/>
            <a:ext cx="3201987" cy="45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468312" y="0"/>
            <a:ext cx="8229600" cy="706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Файл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_Layout.cshtml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має деякий вміст за замовчуванням. Змінимо його на наступний:</a:t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765175"/>
            <a:ext cx="7056437" cy="58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Змінимо подання так, щоб вони використовували майстер-сторінку. 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Оновлене подання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Index.cshtml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248" name="Google Shape;2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1412875"/>
            <a:ext cx="4318000" cy="54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457200" y="274637"/>
            <a:ext cx="8229600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Змінене подання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Buy.cshtml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</p:txBody>
      </p:sp>
      <p:pic>
        <p:nvPicPr>
          <p:cNvPr id="254" name="Google Shape;2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765175"/>
            <a:ext cx="6408737" cy="5834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Результат виконання </a:t>
            </a:r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4437" y="1844675"/>
            <a:ext cx="4348162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Контролери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6" name="Google Shape;266;p43"/>
          <p:cNvSpPr txBox="1"/>
          <p:nvPr/>
        </p:nvSpPr>
        <p:spPr>
          <a:xfrm>
            <a:off x="395287" y="2033587"/>
            <a:ext cx="8208962" cy="3662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 отримує введення користувача, обробляє його і посилає назад результат обробки,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наприклад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у вигляді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подання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використанні контролерів існують деякі умовності. Так, за угодами про іменування назви контролерів повинні закінчуватися на суфікс "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", інша ж частина до цього суфікса вважається ім’ям контролера. 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Щоб звернутися контролера з веб-браузера, нам потрібно в адресному рядку набрати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адресу_сайта/ім’я_контролера/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Так, за запитом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адреса_сайта/Home/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система маршрутизації за замовчуванням викличе метод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контролера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обробки вхідного запиту.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Контролер…</a:t>
            </a:r>
            <a:endParaRPr/>
          </a:p>
        </p:txBody>
      </p:sp>
      <p:sp>
        <p:nvSpPr>
          <p:cNvPr id="272" name="Google Shape;272;p44"/>
          <p:cNvSpPr txBox="1"/>
          <p:nvPr/>
        </p:nvSpPr>
        <p:spPr>
          <a:xfrm>
            <a:off x="250825" y="1484312"/>
            <a:ext cx="8497887" cy="448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являє собою звичайний клас, який успадковується від базового класу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System.Web.Mvc.Controller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свою чергу клас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реалізує абстрактний базовий клас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ControllerBase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а через нього інтерфейс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Таким чином, формально, щоб створити свій клас контролера, досить створити клас, який реалізує інтерфейс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має в імені суфікс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Інтерфейс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визначає один єдиний метод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який відповідає за обробку контексту запиту:</a:t>
            </a:r>
            <a:endParaRPr/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interface IController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void Execute (RequestContext requestContext);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0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Створимо простий контролер, який реалізує даний інтерфейс. 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Додаємо в папку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новий клас (саме клас, а не контролер) з наступним змістом:</a:t>
            </a:r>
            <a:endParaRPr/>
          </a:p>
        </p:txBody>
      </p:sp>
      <p:pic>
        <p:nvPicPr>
          <p:cNvPr id="278" name="Google Shape;2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484312"/>
            <a:ext cx="6192837" cy="48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Request – Response 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зверненні до будь-якого контролера система передає в нього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контекст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запиту. У цей контекст запиту включається все: куки, відправлені дані форм, рядки запиту, ідентифікаційні дані користувача тощо. Реалізація інтерфейсу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дозволяє отримати цей контекст запиту в методі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через параметр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RequestContext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У нашому випадку ми отримуємо IP-адресу користувача через властивість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requestContext.HttpContext.Request. UserHost Address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Крім того, ми можемо відправити користувачеві відповідь за допомогою об’єкта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його методу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Таким чином, перейшовши по шляху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адреса_сайта/My/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користувач побачить свою ip-адресу.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Клас vs Інтерфейс</a:t>
            </a:r>
            <a:endParaRPr/>
          </a:p>
        </p:txBody>
      </p:sp>
      <p:sp>
        <p:nvSpPr>
          <p:cNvPr id="290" name="Google Shape;290;p4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реалізації інтерфейсу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ми маємо справу з одним методом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і всі запити до цього контролера будуть оброблятися тільки одним методом 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спадкуванні класу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ми можемо створювати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кілька різних методів дій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які будуть відповідати за обробку вхідних запитів, і повертати різні результати дій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Один із способів створення контролера </a:t>
            </a:r>
            <a:endParaRPr/>
          </a:p>
        </p:txBody>
      </p:sp>
      <p:pic>
        <p:nvPicPr>
          <p:cNvPr id="296" name="Google Shape;29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1628775"/>
            <a:ext cx="7056437" cy="391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type="title"/>
          </p:nvPr>
        </p:nvSpPr>
        <p:spPr>
          <a:xfrm>
            <a:off x="457200" y="274637"/>
            <a:ext cx="3827462" cy="49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Методи дій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02" name="Google Shape;302;p49"/>
          <p:cNvSpPr txBox="1"/>
          <p:nvPr>
            <p:ph idx="1" type="body"/>
          </p:nvPr>
        </p:nvSpPr>
        <p:spPr>
          <a:xfrm>
            <a:off x="611187" y="1196975"/>
            <a:ext cx="3744912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Методи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дій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(англ.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 methods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представляють такі методи контролера, які обробляють запити за певним URL.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Методи дій завжди мають модифікатор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Контролери можуть мати також деякі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допоміжні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методи (не методи дій). Їх специфіка в тому, що  ми не можемо відправити з браузера запит до них і отримати певні дані у відповідь  </a:t>
            </a:r>
            <a:endParaRPr/>
          </a:p>
        </p:txBody>
      </p:sp>
      <p:pic>
        <p:nvPicPr>
          <p:cNvPr id="303" name="Google Shape;30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100" y="207962"/>
            <a:ext cx="4152900" cy="665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 такого методу (</a:t>
            </a:r>
            <a:r>
              <a:rPr b="0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getToday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</p:txBody>
      </p:sp>
      <p:pic>
        <p:nvPicPr>
          <p:cNvPr id="309" name="Google Shape;30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557337"/>
            <a:ext cx="5767387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Джерела інформації:</a:t>
            </a:r>
            <a:endParaRPr/>
          </a:p>
        </p:txBody>
      </p:sp>
      <p:sp>
        <p:nvSpPr>
          <p:cNvPr id="315" name="Google Shape;315;p5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Adam Freeman. Pro ASP.NET Core 6. Develop Cloud-Ready Web Applications Using MVC, Blazor, and Razor Pages / London, UK, 2022, 1253 p. doi: 10.1007/978-1-4842-7957-1 (англ.мова)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J. Price. C# 11 and .NET 7 – Modern Cross-Platform Development Fundamentals. 7th Edition. Copyright © 2022 Packt Publishing. – 819 p. ISBN: 978-1-80323-780-0 (англ.мова)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Stellman Andrew, Greene Jennifer. Head First C#. A Learner’s Guide to Real-Word Programming with C# and .Net Core. 4th edition. Copyright © 2021 O’Reilly. ISBN: 978-1-491-97670-8 (англ.мова)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S.H.Abbas and Er. Rahul Ranjan. Learn .Net With Programming, SHRIHIND PUBLICATIONS. 2022. – 377 p. (англ.мова)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Електронний ресурс. Джерело доступу </a:t>
            </a: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https://learn.microsoft.com/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type="title"/>
          </p:nvPr>
        </p:nvSpPr>
        <p:spPr>
          <a:xfrm>
            <a:off x="395287" y="29241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Дякую за увагу!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