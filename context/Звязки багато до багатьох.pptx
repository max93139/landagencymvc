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learn.microsoft.com/en-en/aspnet/mvc/overview/getting-started/getting-started-with-ef-using-mvc/crealting-an-entity-framework-data-model-for-an-asp-net-mvc-application" TargetMode="External"/><Relationship Id="rId4" Type="http://schemas.openxmlformats.org/officeDocument/2006/relationships/hyperlink" Target="https://www.youtube.com/watch?v=bkKsjZAYz-w" TargetMode="External"/><Relationship Id="rId5" Type="http://schemas.openxmlformats.org/officeDocument/2006/relationships/hyperlink" Target="https://www.youtube.com/watch?v=bkKsjZAYz-w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Зв’язки багато до багатьох у моделях</a:t>
            </a:r>
            <a:endParaRPr/>
          </a:p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Лекція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" type="body"/>
          </p:nvPr>
        </p:nvSpPr>
        <p:spPr>
          <a:xfrm>
            <a:off x="539750" y="549275"/>
            <a:ext cx="8229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Створимо проект з 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Entity Framework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Додамо класи моделей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Спочатку 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89137"/>
            <a:ext cx="9144000" cy="3598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836612"/>
            <a:ext cx="8505825" cy="48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Потім </a:t>
            </a:r>
            <a:r>
              <a:rPr b="0" i="1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/>
          </a:p>
        </p:txBody>
      </p:sp>
      <p:pic>
        <p:nvPicPr>
          <p:cNvPr id="45" name="Google Shape;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12" y="2060575"/>
            <a:ext cx="9056687" cy="2693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Моделі, які були створені за замовчуванням, модифікуємо для нашого завдання: </a:t>
            </a:r>
            <a:endParaRPr/>
          </a:p>
        </p:txBody>
      </p:sp>
      <p:pic>
        <p:nvPicPr>
          <p:cNvPr id="51" name="Google Shape;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250" y="1773237"/>
            <a:ext cx="6210300" cy="4894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620712"/>
            <a:ext cx="7494587" cy="5373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457200" y="274637"/>
            <a:ext cx="7931150" cy="2867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Існує інший варіант написання наведених вище кодів. 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Якщо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LazyLoading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не передбачено, то приєднання інформації з зв’язаних таблиць буде виконуватися через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Include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287" y="3141662"/>
            <a:ext cx="9002712" cy="32861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/>
          <p:nvPr/>
        </p:nvSpPr>
        <p:spPr>
          <a:xfrm>
            <a:off x="539750" y="3933825"/>
            <a:ext cx="72739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У нашому випадку воно буде здійснюватися так: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64" name="Google Shape;6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4508500"/>
            <a:ext cx="4824412" cy="35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Додамо клас контексту даних </a:t>
            </a:r>
            <a:r>
              <a:rPr b="0" i="1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StudentContext</a:t>
            </a:r>
            <a:r>
              <a:rPr b="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pic>
        <p:nvPicPr>
          <p:cNvPr id="70" name="Google Shape;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300" y="2441575"/>
            <a:ext cx="8405812" cy="1973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Визначимо в контексті дві властивості, через які буде здійснюватися взаємодія з таблицями БД: </a:t>
            </a:r>
            <a:endParaRPr/>
          </a:p>
        </p:txBody>
      </p:sp>
      <p:pic>
        <p:nvPicPr>
          <p:cNvPr id="76" name="Google Shape;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1341437"/>
            <a:ext cx="7777162" cy="5084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7"/>
            <a:ext cx="8229600" cy="490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Ініціалізуємо БД початковими даними: </a:t>
            </a:r>
            <a:endParaRPr/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836612"/>
            <a:ext cx="8064500" cy="5748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457200" y="274637"/>
            <a:ext cx="8229600" cy="346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Продовження попереднього фрагменту коду</a:t>
            </a:r>
            <a:endParaRPr/>
          </a:p>
        </p:txBody>
      </p:sp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812" y="1628775"/>
            <a:ext cx="6242050" cy="3163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457200" y="274637"/>
            <a:ext cx="8229600" cy="490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Задіємо ініціалізатор в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global.asax</a:t>
            </a:r>
            <a:endParaRPr/>
          </a:p>
        </p:txBody>
      </p:sp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68412"/>
            <a:ext cx="9101137" cy="393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457200" y="274637"/>
            <a:ext cx="82296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Пам’ятаємо про підключення відповідних просторів імен</a:t>
            </a:r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1243012"/>
            <a:ext cx="8712200" cy="5614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Після чого маємо…</a:t>
            </a:r>
            <a:endParaRPr/>
          </a:p>
        </p:txBody>
      </p:sp>
      <p:pic>
        <p:nvPicPr>
          <p:cNvPr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275" y="1844675"/>
            <a:ext cx="5975350" cy="4268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457200" y="274637"/>
            <a:ext cx="8229600" cy="490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Внесемо зміни в контролер Home:</a:t>
            </a:r>
            <a:endParaRPr/>
          </a:p>
        </p:txBody>
      </p:sp>
      <p:pic>
        <p:nvPicPr>
          <p:cNvPr id="112" name="Google Shape;1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41437"/>
            <a:ext cx="8964612" cy="3989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95287" y="1158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У контролері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додаємо змінну для роботи з контекстом, змінюємо метод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Index 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і додаємо ще один метод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Details()</a:t>
            </a:r>
            <a:endParaRPr/>
          </a:p>
        </p:txBody>
      </p:sp>
      <p:pic>
        <p:nvPicPr>
          <p:cNvPr id="118" name="Google Shape;1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1700" y="1333500"/>
            <a:ext cx="480060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3712" y="1249362"/>
            <a:ext cx="5937250" cy="5608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457200" y="274637"/>
            <a:ext cx="8229600" cy="706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Створимо подання для виводу списку студентів: </a:t>
            </a:r>
            <a:endParaRPr/>
          </a:p>
        </p:txBody>
      </p:sp>
      <p:pic>
        <p:nvPicPr>
          <p:cNvPr id="125" name="Google Shape;1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812" y="1268412"/>
            <a:ext cx="6088062" cy="484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Оберемо для нього шаблон </a:t>
            </a: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endParaRPr/>
          </a:p>
        </p:txBody>
      </p:sp>
      <p:pic>
        <p:nvPicPr>
          <p:cNvPr id="131" name="Google Shape;1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350" y="1844675"/>
            <a:ext cx="6438900" cy="390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0" y="260350"/>
            <a:ext cx="2555875" cy="2276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Змінене подання для виведення списку студентів </a:t>
            </a:r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337" y="0"/>
            <a:ext cx="6154737" cy="7069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457200" y="274637"/>
            <a:ext cx="8291512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Створимо подання для виведення даних про окремого студента.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Це може бути виконано різними способами, наприклад так:</a:t>
            </a:r>
            <a:endParaRPr/>
          </a:p>
        </p:txBody>
      </p:sp>
      <p:pic>
        <p:nvPicPr>
          <p:cNvPr id="143" name="Google Shape;1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1971675"/>
            <a:ext cx="8002587" cy="48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457200" y="274637"/>
            <a:ext cx="8218487" cy="490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Або таким чином:</a:t>
            </a:r>
            <a:endParaRPr/>
          </a:p>
        </p:txBody>
      </p:sp>
      <p:pic>
        <p:nvPicPr>
          <p:cNvPr id="149" name="Google Shape;1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1196975"/>
            <a:ext cx="8012112" cy="490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250825" y="274637"/>
            <a:ext cx="2592387" cy="12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Вміст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Details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будемо коригувати</a:t>
            </a:r>
            <a:endParaRPr/>
          </a:p>
        </p:txBody>
      </p:sp>
      <p:pic>
        <p:nvPicPr>
          <p:cNvPr id="155" name="Google Shape;1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7675" y="260350"/>
            <a:ext cx="5610225" cy="65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250825" y="333375"/>
            <a:ext cx="2386012" cy="2087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Скоригуємо таким чином і запустимо на виконання</a:t>
            </a:r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1775" y="188912"/>
            <a:ext cx="6159500" cy="6408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Як результат отримаємо:</a:t>
            </a:r>
            <a:endParaRPr/>
          </a:p>
        </p:txBody>
      </p:sp>
      <p:pic>
        <p:nvPicPr>
          <p:cNvPr id="167" name="Google Shape;16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628775"/>
            <a:ext cx="7750175" cy="4164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457200" y="274637"/>
            <a:ext cx="8229600" cy="706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Клацнемо на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Details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для першого у списку студента: </a:t>
            </a:r>
            <a:endParaRPr/>
          </a:p>
        </p:txBody>
      </p:sp>
      <p:pic>
        <p:nvPicPr>
          <p:cNvPr id="173" name="Google Shape;17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484312"/>
            <a:ext cx="5543550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Про Базу Даних</a:t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Де може бути БД?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 папці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App_Date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 сервері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Як переглянути БД?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Знайти її в App_Date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Використати Microsoft SQL Server Management Studio 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Як це виглядає у БД</a:t>
            </a:r>
            <a:endParaRPr/>
          </a:p>
        </p:txBody>
      </p:sp>
      <p:pic>
        <p:nvPicPr>
          <p:cNvPr id="185" name="Google Shape;18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50" y="1341437"/>
            <a:ext cx="7777162" cy="5151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Джерела інформації </a:t>
            </a:r>
            <a:endParaRPr/>
          </a:p>
        </p:txBody>
      </p:sp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Електронний ресурс. Початок роботи з Entity Framework 6 Code First з допомогою MVC5.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Посібник. Джерело доступу:</a:t>
            </a:r>
            <a:endParaRPr b="1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https://learn.microsoft.com/en-en/aspnet/mvc/overview/getting-started/getting-started-with-ef-using-mvc/crealting-an-entity-framework-data-model-for-an-asp-net-mvc-application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Для перекладу документу українською мовою використовуємо Google Translate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 startAt="2"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Adam Freeman. Pro ASP.NET Core 6. Develop Cloud-Ready Web Applications Using MVC, Blazor, and Razor Pages. -London, UK. 2022. - 1253 p.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1" sz="16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1" sz="16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Короткі відеозаписи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Електронний ресурс. Робота з БД у С#. Джерело доступу:</a:t>
            </a:r>
            <a:endParaRPr b="1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https://www.youtube.com/watch?v=bkKsjZAYz-w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Електронний ресурс. Конфігурація підключення до БД (C#). Джерело доступу:</a:t>
            </a:r>
            <a:endParaRPr b="1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https://www.youtube.com/watch?v=bkKsjZAYz-w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413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468312" y="3068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Дякую за увагу!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Оформление по умолчанию">
  <a:themeElements>
    <a:clrScheme name="Оформление по умолчанию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